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2"/>
    <p:sldId id="256" r:id="rId3"/>
    <p:sldId id="258" r:id="rId4"/>
    <p:sldId id="259" r:id="rId5"/>
    <p:sldId id="260" r:id="rId6"/>
    <p:sldId id="262" r:id="rId7"/>
    <p:sldId id="263" r:id="rId8"/>
    <p:sldId id="269" r:id="rId9"/>
    <p:sldId id="264" r:id="rId10"/>
    <p:sldId id="265" r:id="rId11"/>
    <p:sldId id="266" r:id="rId12"/>
    <p:sldId id="25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91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471" y="185978"/>
            <a:ext cx="115627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Reconhecimento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comandos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voz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com Edge AI no ESP32-S3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8802"/>
            <a:ext cx="1016515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endParaRPr lang="pt-BR" sz="2000" b="1" dirty="0"/>
          </a:p>
          <a:p>
            <a:pPr>
              <a:defRPr sz="14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Do dataset 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treinamento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Colab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à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inferência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INT8 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acionamento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servo no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Wokwi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1940540"/>
            <a:ext cx="10834165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900"/>
              </a:spcAft>
              <a:defRPr sz="20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reconhecer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“ABRIR PORTA” e “FECHAR PORTA”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localmente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microcontrolador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900"/>
              </a:spcAft>
              <a:defRPr sz="2000"/>
            </a:pP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900"/>
              </a:spcAft>
              <a:defRPr sz="20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 final: 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900"/>
              </a:spcAft>
              <a:defRPr sz="20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áudio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pré-processamento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→ MFCC →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normalização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→ INT8 → CNN →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classe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→ servo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8835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2C2DE6D0-ABCD-D330-05BC-54C98B4B2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520" y="162233"/>
            <a:ext cx="11308080" cy="648928"/>
          </a:xfrm>
        </p:spPr>
        <p:txBody>
          <a:bodyPr>
            <a:normAutofit fontScale="90000"/>
          </a:bodyPr>
          <a:lstStyle/>
          <a:p>
            <a:b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3100" b="1" dirty="0">
                <a:latin typeface="Arial" panose="020B0604020202020204" pitchFamily="34" charset="0"/>
                <a:cs typeface="Arial" panose="020B0604020202020204" pitchFamily="34" charset="0"/>
              </a:rPr>
              <a:t>Reconhecimento de comandos de voz com Edge AI no ESP32-S3</a:t>
            </a:r>
            <a:b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4E4F078B-1F88-630F-8F00-8AAD5A971D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6852" y="1504335"/>
            <a:ext cx="9217742" cy="5070497"/>
          </a:xfr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911820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Dataset,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pré-processamento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treinamento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Colab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5577840" cy="4362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900"/>
              </a:spcAft>
              <a:defRPr sz="17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Dataset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inicial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: 60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gravações</a:t>
            </a:r>
            <a:endParaRPr lang="pt-BR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Aft>
                <a:spcPts val="900"/>
              </a:spcAft>
              <a:defRPr sz="17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— 30 ABRIR_PORTA e 30 FECHAR_PORTA.</a:t>
            </a:r>
          </a:p>
          <a:p>
            <a:pPr algn="just">
              <a:spcAft>
                <a:spcPts val="900"/>
              </a:spcAft>
              <a:defRPr sz="1700"/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Áudio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padronizado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mono, 16 kHz, PCM16;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janela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final de 2,5 s (40.000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amostras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algn="just">
              <a:spcAft>
                <a:spcPts val="900"/>
              </a:spcAft>
              <a:defRPr sz="1700"/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Detecção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fala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com trim 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margem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200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; padding/corte central para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manter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duração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fixa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>
              <a:spcAft>
                <a:spcPts val="900"/>
              </a:spcAft>
              <a:defRPr sz="17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MFCC: 13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coeficientes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× 247 frames = 3.211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áudio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>
              <a:spcAft>
                <a:spcPts val="900"/>
              </a:spcAft>
              <a:defRPr sz="17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CNN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pequena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TensorFlow/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Keras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validação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inicial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positiva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mas com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limitação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poucos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locutores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4" name="Picture 3" descr="Calculo_mf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175" y="879173"/>
            <a:ext cx="4937760" cy="2549827"/>
          </a:xfrm>
          <a:prstGeom prst="rect">
            <a:avLst/>
          </a:prstGeom>
        </p:spPr>
      </p:pic>
      <p:pic>
        <p:nvPicPr>
          <p:cNvPr id="5" name="Picture 4" descr="Amostras_mf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7015" y="3447869"/>
            <a:ext cx="2926080" cy="31815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596028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Artefatos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gerados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treinamento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5486400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900"/>
              </a:spcAft>
              <a:defRPr sz="1800"/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Float32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convertido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TFLite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INT8 (modelo_comandos_int8.tflite).</a:t>
            </a:r>
          </a:p>
          <a:p>
            <a:pPr algn="just">
              <a:spcAft>
                <a:spcPts val="900"/>
              </a:spcAft>
              <a:defRPr sz="1800"/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Normalização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preservada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NPZ: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média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= -28,254616 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desvio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= 117,86187.</a:t>
            </a:r>
          </a:p>
          <a:p>
            <a:pPr algn="just">
              <a:spcAft>
                <a:spcPts val="900"/>
              </a:spcAft>
              <a:defRPr sz="18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O NPZ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mantém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parâmetros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usados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reproduzir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no ESP32 a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mesma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transformação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aplicada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treinamento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>
              <a:spcAft>
                <a:spcPts val="900"/>
              </a:spcAft>
              <a:defRPr sz="18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INT8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convertido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para model.cc/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model.h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para ser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compilado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no firmware.</a:t>
            </a:r>
          </a:p>
          <a:p>
            <a:pPr>
              <a:spcAft>
                <a:spcPts val="900"/>
              </a:spcAft>
              <a:defRPr sz="1800"/>
            </a:pPr>
            <a:endParaRPr dirty="0"/>
          </a:p>
        </p:txBody>
      </p:sp>
      <p:pic>
        <p:nvPicPr>
          <p:cNvPr id="4" name="Picture 3" descr="TINY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720" y="1325880"/>
            <a:ext cx="5029200" cy="39101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807304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Da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implementação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Python/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Colab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ao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ESP32-S3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6663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900"/>
              </a:spcAft>
              <a:defRPr sz="1800"/>
            </a:pP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áudio → </a:t>
            </a:r>
            <a:r>
              <a:rPr lang="pt-BR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janelamento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 → FFT → espectro de potência → filtros Mel → log → DCT → MFCC</a:t>
            </a:r>
          </a:p>
          <a:p>
            <a:pPr algn="just">
              <a:spcAft>
                <a:spcPts val="900"/>
              </a:spcAft>
              <a:defRPr sz="1800"/>
            </a:pPr>
            <a:endParaRPr lang="pt-BR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Aft>
                <a:spcPts val="900"/>
              </a:spcAft>
              <a:defRPr sz="1800"/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endParaRPr lang="pt-BR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spcAft>
                <a:spcPts val="900"/>
              </a:spcAft>
              <a:buFont typeface="Arial" panose="020B0604020202020204" pitchFamily="34" charset="0"/>
              <a:buChar char="•"/>
              <a:defRPr sz="18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ESP-DSP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usado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para FFT/MFCC; a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implementação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precisou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ser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ajustada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memória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limitada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execução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simulador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algn="just">
              <a:spcAft>
                <a:spcPts val="900"/>
              </a:spcAft>
              <a:buFont typeface="Arial" panose="020B0604020202020204" pitchFamily="34" charset="0"/>
              <a:buChar char="•"/>
              <a:defRPr sz="18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Buffers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grandes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foram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reduzidos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reutilizados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e o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áudio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processado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passou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a ser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alocado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dinamicamente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pt-BR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spcAft>
                <a:spcPts val="900"/>
              </a:spcAft>
              <a:buFont typeface="Arial" panose="020B0604020202020204" pitchFamily="34" charset="0"/>
              <a:buChar char="•"/>
              <a:defRPr sz="1800"/>
            </a:pPr>
            <a:r>
              <a:rPr lang="pt-BR" sz="2000" dirty="0" err="1"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2.42: operações recursivas/submódulos ficavam presas durante configure/build; atualização para </a:t>
            </a:r>
            <a:r>
              <a:rPr lang="pt-BR" sz="2000" dirty="0" err="1"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2.56 eliminou esse bloqueio no ambiente.</a:t>
            </a:r>
          </a:p>
          <a:p>
            <a:pPr marL="342900" indent="-342900" algn="just">
              <a:spcAft>
                <a:spcPts val="900"/>
              </a:spcAft>
              <a:buFont typeface="Arial" panose="020B0604020202020204" pitchFamily="34" charset="0"/>
              <a:buChar char="•"/>
              <a:defRPr sz="1800"/>
            </a:pPr>
            <a:r>
              <a:rPr lang="pt-BR" sz="2000" dirty="0" err="1">
                <a:latin typeface="Arial" panose="020B0604020202020204" pitchFamily="34" charset="0"/>
                <a:cs typeface="Arial" panose="020B0604020202020204" pitchFamily="34" charset="0"/>
              </a:rPr>
              <a:t>TFLite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Micro/ESP-NN otimizado: </a:t>
            </a:r>
            <a:r>
              <a:rPr lang="pt-BR" sz="2000" dirty="0" err="1">
                <a:latin typeface="Arial" panose="020B0604020202020204" pitchFamily="34" charset="0"/>
                <a:cs typeface="Arial" panose="020B0604020202020204" pitchFamily="34" charset="0"/>
              </a:rPr>
              <a:t>MaxPool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causava falha no </a:t>
            </a:r>
            <a:r>
              <a:rPr lang="pt-BR" sz="2000" dirty="0" err="1">
                <a:latin typeface="Arial" panose="020B0604020202020204" pitchFamily="34" charset="0"/>
                <a:cs typeface="Arial" panose="020B0604020202020204" pitchFamily="34" charset="0"/>
              </a:rPr>
              <a:t>Wokwi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r>
              <a:rPr lang="pt-BR" sz="2000" dirty="0" err="1">
                <a:latin typeface="Arial" panose="020B0604020202020204" pitchFamily="34" charset="0"/>
                <a:cs typeface="Arial" panose="020B0604020202020204" pitchFamily="34" charset="0"/>
              </a:rPr>
              <a:t>menuconfig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foi alterado para inferência ANSI C.</a:t>
            </a:r>
          </a:p>
          <a:p>
            <a:pPr marL="342900" indent="-342900" algn="just">
              <a:spcAft>
                <a:spcPts val="900"/>
              </a:spcAft>
              <a:buFont typeface="Arial" panose="020B0604020202020204" pitchFamily="34" charset="0"/>
              <a:buChar char="•"/>
              <a:defRPr sz="1800"/>
            </a:pP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FFT: as chamadas genéricas do ESP-DSP produziram espectro divergente no ambiente atual; chamadas explícitas dsps_fft2r_fc32_ansi e dsps_bit_rev_fc32_ansi passaram a coincidir com </a:t>
            </a:r>
            <a:r>
              <a:rPr lang="pt-BR" sz="2000" dirty="0" err="1">
                <a:latin typeface="Arial" panose="020B0604020202020204" pitchFamily="34" charset="0"/>
                <a:cs typeface="Arial" panose="020B0604020202020204" pitchFamily="34" charset="0"/>
              </a:rPr>
              <a:t>NumPy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>
              <a:spcAft>
                <a:spcPts val="900"/>
              </a:spcAft>
              <a:defRPr sz="1800"/>
            </a:pPr>
            <a:endParaRPr lang="pt-BR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Aft>
                <a:spcPts val="900"/>
              </a:spcAft>
              <a:defRPr sz="1800"/>
            </a:pPr>
            <a:endParaRPr lang="pt-BR" sz="3200" dirty="0"/>
          </a:p>
          <a:p>
            <a:pPr algn="just">
              <a:spcAft>
                <a:spcPts val="900"/>
              </a:spcAft>
              <a:defRPr sz="1800"/>
            </a:pP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807304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Pré-processamento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reproduzido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simulador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Pre-processa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912" y="1143505"/>
            <a:ext cx="4224287" cy="3768329"/>
          </a:xfrm>
          <a:prstGeom prst="rect">
            <a:avLst/>
          </a:prstGeom>
        </p:spPr>
      </p:pic>
      <p:pic>
        <p:nvPicPr>
          <p:cNvPr id="4" name="Picture 3" descr="Pre-processamento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490" y="1143505"/>
            <a:ext cx="5583598" cy="311050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487184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MFCC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embarcado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13 × 247</a:t>
            </a:r>
          </a:p>
        </p:txBody>
      </p:sp>
      <p:pic>
        <p:nvPicPr>
          <p:cNvPr id="3" name="Picture 2" descr="Calculo_mf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21715"/>
            <a:ext cx="5303520" cy="2738703"/>
          </a:xfrm>
          <a:prstGeom prst="rect">
            <a:avLst/>
          </a:prstGeom>
        </p:spPr>
      </p:pic>
      <p:pic>
        <p:nvPicPr>
          <p:cNvPr id="4" name="Picture 3" descr="Amostras_mf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990006"/>
            <a:ext cx="3474720" cy="36620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921926"/>
            <a:ext cx="10789920" cy="1746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900"/>
              </a:spcAft>
              <a:defRPr sz="1600"/>
            </a:pP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Cada áudio foi padronizado para 2,5 segundos e analisado em 247 janelas temporais sobrepostas. De cada janela foram extraídos 13 coeficientes MFCC, formando uma matriz 13 por 247 que alimenta a CNN.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Aft>
                <a:spcPts val="900"/>
              </a:spcAft>
              <a:defRPr sz="1600"/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Depois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do MFCC,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são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normalizados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com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média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desvio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do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treinamento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quantizados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conforme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scale/zero-point do tensor INT8.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537999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Fluxo do áudio a classificação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0C25488-FDD7-2103-7B79-8B5689F77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71" y="914400"/>
            <a:ext cx="11592232" cy="582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9464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735002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Execução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Wokwi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seleção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áudios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Escolher_audio_tes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669280" cy="4830761"/>
          </a:xfrm>
          <a:prstGeom prst="rect">
            <a:avLst/>
          </a:prstGeom>
        </p:spPr>
      </p:pic>
      <p:pic>
        <p:nvPicPr>
          <p:cNvPr id="4" name="Picture 3" descr="INFEREN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234440"/>
            <a:ext cx="5074920" cy="3018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303520"/>
            <a:ext cx="107899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/>
            </a:pP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023709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6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áudios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inéditos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para a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inferência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embarcada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325880"/>
          <a:ext cx="107899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Teste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Classe real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Previsão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Resultado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ABRIR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ABRIR 99,22%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Correto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ABRIR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ABRIR 100,00%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Correto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FECHAR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FECHAR 97,27%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Correto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FECHAR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FECHAR 97,27%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Correto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05 – ElevenLabs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FECHAR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rPr dirty="0"/>
                        <a:t>FECHAR 96,88%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Correto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06 – Audacity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ABRIR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FECHAR 96,88%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rPr dirty="0" err="1"/>
                        <a:t>Incorreto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983480"/>
            <a:ext cx="107899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/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quatro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primeiros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testes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cegos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foram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corretos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pt-BR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900"/>
              </a:spcAft>
              <a:defRPr sz="16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O teste 05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também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generalizou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uma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nova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voz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spcAft>
                <a:spcPts val="900"/>
              </a:spcAft>
              <a:defRPr sz="16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O teste 06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errou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com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alta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confiança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evidência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que o dataset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ainda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precisa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maior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diversidade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locutores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554350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Evidências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dos testes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externos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TESTE_AUDIO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" y="1234440"/>
            <a:ext cx="5303520" cy="5265181"/>
          </a:xfrm>
          <a:prstGeom prst="rect">
            <a:avLst/>
          </a:prstGeom>
        </p:spPr>
      </p:pic>
      <p:pic>
        <p:nvPicPr>
          <p:cNvPr id="4" name="Picture 3" descr="TESTE_AUDIO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303520" cy="249577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_wide_infographic_poster_with_a_clean_block_di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39" y="228600"/>
            <a:ext cx="11931445" cy="640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562</Words>
  <Application>Microsoft Office PowerPoint</Application>
  <PresentationFormat>Widescreen</PresentationFormat>
  <Paragraphs>71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 Reconhecimento de comandos de voz com Edge AI no ESP32-S3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SILVIO CESAR DE LIMA</cp:lastModifiedBy>
  <cp:revision>2</cp:revision>
  <dcterms:created xsi:type="dcterms:W3CDTF">2013-01-27T09:14:16Z</dcterms:created>
  <dcterms:modified xsi:type="dcterms:W3CDTF">2026-10-06T14:00:25Z</dcterms:modified>
  <cp:category/>
</cp:coreProperties>
</file>