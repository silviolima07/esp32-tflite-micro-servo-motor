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Reconhecimento de comandos de voz com Edge AI no ESP32-S3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Do dataset e treinamento no Colab à inferência INT8 e acionamento de servo no Wokwi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Objetivo: reconhecer “ABRIR PORTA” e “FECHAR PORTA” localmente no microcontrolador.</a:t>
            </a:r>
          </a:p>
          <a:p>
            <a:pPr>
              <a:spcAft>
                <a:spcPts val="900"/>
              </a:spcAft>
              <a:defRPr sz="2000"/>
            </a:pPr>
            <a:r>
              <a:t>Pipeline final: áudio → pré-processamento → MFCC → normalização → INT8 → CNN → classe → servo.</a:t>
            </a:r>
          </a:p>
          <a:p>
            <a:pPr>
              <a:spcAft>
                <a:spcPts val="900"/>
              </a:spcAft>
              <a:defRPr sz="2000"/>
            </a:pPr>
            <a:r>
              <a:t>Este material registra também os problemas encontrados e as decisões técnicas que levaram ao funcionamento.</a:t>
            </a:r>
          </a:p>
        </p:txBody>
      </p:sp>
      <p:pic>
        <p:nvPicPr>
          <p:cNvPr id="5" name="Picture 4" descr="Modelo_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715000" cy="2884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Visão geral do fluxo</a:t>
            </a:r>
          </a:p>
        </p:txBody>
      </p:sp>
      <p:pic>
        <p:nvPicPr>
          <p:cNvPr id="3" name="Picture 2" descr="a_wide_infographic_poster_with_a_clean_block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84280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Dataset, pré-processamento e treinamento no Colab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Dataset inicial: 60 gravações — 30 ABRIR_PORTA e 30 FECHAR_PORTA.</a:t>
            </a:r>
          </a:p>
          <a:p>
            <a:pPr>
              <a:spcAft>
                <a:spcPts val="900"/>
              </a:spcAft>
              <a:defRPr sz="1700"/>
            </a:pPr>
            <a:r>
              <a:t>Áudio padronizado em mono, 16 kHz, PCM16; janela final de 2,5 s (40.000 amostras).</a:t>
            </a:r>
          </a:p>
          <a:p>
            <a:pPr>
              <a:spcAft>
                <a:spcPts val="900"/>
              </a:spcAft>
              <a:defRPr sz="1700"/>
            </a:pPr>
            <a:r>
              <a:t>Detecção de fala com trim e margem de 200 ms; padding/corte central para manter duração fixa.</a:t>
            </a:r>
          </a:p>
          <a:p>
            <a:pPr>
              <a:spcAft>
                <a:spcPts val="900"/>
              </a:spcAft>
              <a:defRPr sz="1700"/>
            </a:pPr>
            <a:r>
              <a:t>MFCC: 13 coeficientes × 247 frames = 3.211 valores por áudio.</a:t>
            </a:r>
          </a:p>
          <a:p>
            <a:pPr>
              <a:spcAft>
                <a:spcPts val="900"/>
              </a:spcAft>
              <a:defRPr sz="1700"/>
            </a:pPr>
            <a:r>
              <a:t>CNN pequena em TensorFlow/Keras; validação inicial positiva, mas com limitação de poucos locutores.</a:t>
            </a:r>
          </a:p>
        </p:txBody>
      </p:sp>
      <p:pic>
        <p:nvPicPr>
          <p:cNvPr id="4" name="Picture 3" descr="Calculo_m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937760" cy="2549827"/>
          </a:xfrm>
          <a:prstGeom prst="rect">
            <a:avLst/>
          </a:prstGeom>
        </p:spPr>
      </p:pic>
      <p:pic>
        <p:nvPicPr>
          <p:cNvPr id="5" name="Picture 4" descr="Amostras_mf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3657600"/>
            <a:ext cx="2926080" cy="3181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Artefatos gerados no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Modelo Float32 convertido para TFLite INT8 (modelo_comandos_int8.tflite).</a:t>
            </a:r>
          </a:p>
          <a:p>
            <a:pPr>
              <a:spcAft>
                <a:spcPts val="900"/>
              </a:spcAft>
              <a:defRPr sz="1800"/>
            </a:pPr>
            <a:r>
              <a:t>Normalização preservada em NPZ: média = -28,254616 e desvio = 117,86187.</a:t>
            </a:r>
          </a:p>
          <a:p>
            <a:pPr>
              <a:spcAft>
                <a:spcPts val="900"/>
              </a:spcAft>
              <a:defRPr sz="1800"/>
            </a:pPr>
            <a:r>
              <a:t>O NPZ mantém os parâmetros usados para reproduzir no ESP32 a mesma transformação aplicada no treinamento.</a:t>
            </a:r>
          </a:p>
          <a:p>
            <a:pPr>
              <a:spcAft>
                <a:spcPts val="900"/>
              </a:spcAft>
              <a:defRPr sz="1800"/>
            </a:pPr>
            <a:r>
              <a:t>O modelo INT8 foi convertido para model.cc/model.h para ser compilado no firmware.</a:t>
            </a:r>
          </a:p>
          <a:p>
            <a:pPr>
              <a:spcAft>
                <a:spcPts val="900"/>
              </a:spcAft>
              <a:defRPr sz="1800"/>
            </a:pPr>
            <a:r>
              <a:t>Tensor de entrada final: 1 × 13 × 247 × 1, tipo INT8.</a:t>
            </a:r>
          </a:p>
        </p:txBody>
      </p:sp>
      <p:pic>
        <p:nvPicPr>
          <p:cNvPr id="4" name="Picture 3" descr="TINY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29200" cy="39101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Da implementação Python/Colab ao ESP32-S3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Primeiro problema: o model.cc do exemplo não correspondia ao modelo treinado no Colab; foi regenerado a partir do .tflite correto.</a:t>
            </a:r>
          </a:p>
          <a:p>
            <a:pPr>
              <a:spcAft>
                <a:spcPts val="900"/>
              </a:spcAft>
              <a:defRPr sz="1800"/>
            </a:pPr>
            <a:r>
              <a:t>O projeto passou a reproduzir no firmware: janela de áudio, MFCC, normalização, quantização e inferência.</a:t>
            </a:r>
          </a:p>
          <a:p>
            <a:pPr>
              <a:spcAft>
                <a:spcPts val="900"/>
              </a:spcAft>
              <a:defRPr sz="1800"/>
            </a:pPr>
            <a:r>
              <a:t>ESP-DSP foi usado para FFT/MFCC; a implementação precisou ser ajustada para memória limitada e execução no simulador.</a:t>
            </a:r>
          </a:p>
          <a:p>
            <a:pPr>
              <a:spcAft>
                <a:spcPts val="900"/>
              </a:spcAft>
              <a:defRPr sz="1800"/>
            </a:pPr>
            <a:r>
              <a:t>Buffers grandes foram reduzidos/reutilizados e o áudio processado passou a ser alocado dinamicamente.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Problemas de build e compatibilidade encontrados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/>
            </a:pPr>
            <a:r>
              <a:t>Git 2.42: operações recursivas/submódulos ficavam presas durante configure/build; atualização para Git 2.56 eliminou esse bloqueio no ambiente.</a:t>
            </a:r>
          </a:p>
          <a:p>
            <a:pPr>
              <a:spcAft>
                <a:spcPts val="900"/>
              </a:spcAft>
              <a:defRPr sz="1800"/>
            </a:pPr>
            <a:r>
              <a:t>TFLite Micro/ESP-NN otimizado: MaxPool causava falha no Wokwi; menuconfig foi alterado para inferência ANSI C.</a:t>
            </a:r>
          </a:p>
          <a:p>
            <a:pPr>
              <a:spcAft>
                <a:spcPts val="900"/>
              </a:spcAft>
              <a:defRPr sz="1800"/>
            </a:pPr>
            <a:r>
              <a:t>FFT: as chamadas genéricas do ESP-DSP produziram espectro divergente no ambiente atual; chamadas explícitas dsps_fft2r_fc32_ansi e dsps_bit_rev_fc32_ansi passaram a coincidir com NumPy.</a:t>
            </a:r>
          </a:p>
          <a:p>
            <a:pPr>
              <a:spcAft>
                <a:spcPts val="900"/>
              </a:spcAft>
              <a:defRPr sz="1800"/>
            </a:pPr>
            <a:r>
              <a:t>Importante: essas decisões são específicas do ambiente testado; não significam que as implementações otimizadas sejam universalmente incorretas.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Pré-processamento reproduzido no simulador</a:t>
            </a:r>
          </a:p>
        </p:txBody>
      </p:sp>
      <p:pic>
        <p:nvPicPr>
          <p:cNvPr id="3" name="Picture 2" descr="Pre-process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5980101"/>
          </a:xfrm>
          <a:prstGeom prst="rect">
            <a:avLst/>
          </a:prstGeom>
        </p:spPr>
      </p:pic>
      <p:pic>
        <p:nvPicPr>
          <p:cNvPr id="4" name="Picture 3" descr="Pre-processamento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03520" cy="31105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O firmware detecta a fala, aplica margem, recorta e completa com zeros até 40.000 amostras.</a:t>
            </a:r>
          </a:p>
          <a:p>
            <a:pPr>
              <a:spcAft>
                <a:spcPts val="900"/>
              </a:spcAft>
              <a:defRPr sz="1500"/>
            </a:pPr>
            <a:r>
              <a:t>A etapa foi validada comparando amostras do buffer processado com as posições correspondentes do PCM original.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MFCC embarcado: 13 × 247</a:t>
            </a:r>
          </a:p>
        </p:txBody>
      </p:sp>
      <p:pic>
        <p:nvPicPr>
          <p:cNvPr id="3" name="Picture 2" descr="Calculo_mf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2738703"/>
          </a:xfrm>
          <a:prstGeom prst="rect">
            <a:avLst/>
          </a:prstGeom>
        </p:spPr>
      </p:pic>
      <p:pic>
        <p:nvPicPr>
          <p:cNvPr id="4" name="Picture 3" descr="Amostras_mf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34440"/>
            <a:ext cx="3474720" cy="3778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1663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Resultado final: 13 coeficientes, 247 frames e 3.211 valores.</a:t>
            </a:r>
          </a:p>
          <a:p>
            <a:pPr>
              <a:spcAft>
                <a:spcPts val="900"/>
              </a:spcAft>
              <a:defRPr sz="1600"/>
            </a:pPr>
            <a:r>
              <a:t>Depois do MFCC, os valores são normalizados com média/desvio do treinamento e quantizados conforme scale/zero-point do tensor INT8.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Execução no Wokwi e seleção dos áudios</a:t>
            </a:r>
          </a:p>
        </p:txBody>
      </p:sp>
      <p:pic>
        <p:nvPicPr>
          <p:cNvPr id="3" name="Picture 2" descr="Escolher_audio_te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669280" cy="4830761"/>
          </a:xfrm>
          <a:prstGeom prst="rect">
            <a:avLst/>
          </a:prstGeom>
        </p:spPr>
      </p:pic>
      <p:pic>
        <p:nvPicPr>
          <p:cNvPr id="4" name="Picture 3" descr="INFER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234440"/>
            <a:ext cx="5074920" cy="3018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30352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Seis WAVs foram convertidos em arrays PCM16 C++ e incorporados ao firmware.</a:t>
            </a:r>
          </a:p>
          <a:p>
            <a:pPr>
              <a:spcAft>
                <a:spcPts val="900"/>
              </a:spcAft>
              <a:defRPr sz="1500"/>
            </a:pPr>
            <a:r>
              <a:t>O menu permite selecionar o áudio sem revelar a classe antes da inferência.</a:t>
            </a:r>
          </a:p>
          <a:p>
            <a:pPr>
              <a:spcAft>
                <a:spcPts val="900"/>
              </a:spcAft>
              <a:defRPr sz="1500"/>
            </a:pPr>
            <a:r>
              <a:t>Após classificar, o firmware aciona o servo: abertura representada pela ação de abrir; 90° representa o travamento/fechamento.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Resultados: 6 áudios inéditos para a inferência embarcada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2588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Classe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Previsão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Resultado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99,22%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 100,00%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97,27%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05 – ElevenLabs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Correto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06 – Audacity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ABRIR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FECHAR 96,88%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Incorreto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Os quatro primeiros testes cegos foram corretos. O teste 05 também generalizou para uma nova voz.</a:t>
            </a:r>
          </a:p>
          <a:p>
            <a:pPr>
              <a:spcAft>
                <a:spcPts val="900"/>
              </a:spcAft>
              <a:defRPr sz="1600"/>
            </a:pPr>
            <a:r>
              <a:t>O teste 06 errou com alta confiança: evidência de que o dataset ainda precisa de maior diversidade de locutores.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Evidências dos testes externos</a:t>
            </a:r>
          </a:p>
        </p:txBody>
      </p:sp>
      <p:pic>
        <p:nvPicPr>
          <p:cNvPr id="3" name="Picture 2" descr="TESTE_AUDIO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03520" cy="5265181"/>
          </a:xfrm>
          <a:prstGeom prst="rect">
            <a:avLst/>
          </a:prstGeom>
        </p:spPr>
      </p:pic>
      <p:pic>
        <p:nvPicPr>
          <p:cNvPr id="4" name="Picture 3" descr="TESTE_AUDIO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4957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9496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Teste 05: FECHAR_PORTA reconhecido corretamente.</a:t>
            </a:r>
          </a:p>
          <a:p>
            <a:pPr>
              <a:spcAft>
                <a:spcPts val="900"/>
              </a:spcAft>
              <a:defRPr sz="1500"/>
            </a:pPr>
            <a:r>
              <a:t>Teste 06: ABRIR_PORTA classificado como FECHAR_PORTA — limitação real observada, não ocultada.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Estado atual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Pipeline completo funcionando no ESP32-S3/Wokwi: PCM → pré-processamento → MFCC → INT8 → CNN → servo.</a:t>
            </a:r>
          </a:p>
          <a:p>
            <a:pPr>
              <a:spcAft>
                <a:spcPts val="900"/>
              </a:spcAft>
              <a:defRPr sz="1900"/>
            </a:pPr>
            <a:r>
              <a:t>O projeto demonstra Edge AI: a inferência ocorre localmente, sem enviar o áudio para a nuvem.</a:t>
            </a:r>
          </a:p>
          <a:p>
            <a:pPr>
              <a:spcAft>
                <a:spcPts val="900"/>
              </a:spcAft>
              <a:defRPr sz="1900"/>
            </a:pPr>
            <a:r>
              <a:t>Próxima melhoria do modelo: ampliar o dataset com várias pessoas pronunciando ambas as classes e manter os áudios externos fora do treinamento.</a:t>
            </a:r>
          </a:p>
          <a:p>
            <a:pPr>
              <a:spcAft>
                <a:spcPts val="900"/>
              </a:spcAft>
              <a:defRPr sz="1900"/>
            </a:pPr>
            <a:r>
              <a:t>Depois do retreinamento, repetir exatamente os mesmos testes externos para medir ganho de generalização.</a:t>
            </a:r>
          </a:p>
          <a:p>
            <a:pPr>
              <a:spcAft>
                <a:spcPts val="900"/>
              </a:spcAft>
              <a:defRPr sz="1900"/>
            </a:pPr>
            <a:r>
              <a:t>Para hardware real, o servo pode representar o acionamento da maçaneta/trinco na abertura e a rotação de 90° da trava no fechamento.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